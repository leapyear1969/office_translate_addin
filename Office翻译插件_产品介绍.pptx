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78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开场：这是一款面向</a:t>
            </a:r>
            <a:r>
              <a:rPr dirty="0"/>
              <a:t> Outlook 与 Word 的 AI </a:t>
            </a:r>
            <a:r>
              <a:rPr dirty="0" err="1"/>
              <a:t>翻译加载项，目标是减少在</a:t>
            </a:r>
            <a:r>
              <a:rPr dirty="0"/>
              <a:t> Office </a:t>
            </a:r>
            <a:r>
              <a:rPr dirty="0" err="1"/>
              <a:t>与外部翻译工具之间切换。右侧为使用流程示意，不是产品界面截图。后续页面分别介绍使用功能、管理能力和技术架构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讲解重点：邮件翻译是显示层操作，不修改服务器原始邮件。目标语言共31个语言／文字变体选项，默认简体中文。自动检测／翻译仅在选项面板运行时生效，关闭面板后不会后台运行。Outlook 原位显示依赖客户端支持 Preview API；世纪互联 OWA 有已知兼容问题，不能宣称全部客户端支持。邮件主题、附件和图片内部文字不在当前翻译范围。</a:t>
            </a:r>
          </a:p>
          <a:p>
            <a:r>
              <a:t>依据：src/shared/mail.ts:49–117；src/shared/settings.ts:1–27；src/taskpane/taskpane.ts:75–95,256–281；server/translator.js:65–143；README.md:128–138。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讲解重点：选区／当前段落先预览，原文可编辑、译文只读，点击替换后才写回捕获的范围，写回前检查原文变化。这是纯文本替换，可能改变范围内混合格式，不创建恢复备份，可使用 Word 撤销。桌面全文创建完整新副本，打开后需要用户保存；网页版在本地结构检查和备份后翻译当前正文。全文恢复跳过文字已修改的范围；网页备份依赖同一浏览器与插件地址，桌面备份随副本文档保存。全文仅指正文，不涵盖页眉／页脚等独立内容。网页全文限制为20,000 UTF-16文字单元、500段、单次OOXML导出5,000,000字节，合并／嵌套表格等复杂结构拒绝。</a:t>
            </a:r>
          </a:p>
          <a:p>
            <a:r>
              <a:t>依据：src/word/taskpane.ts:65–128,176–200,261–317；src/word/preview.ts:97–141；src/word/desktop-copy.ts:35–116；src/word/document.ts:204–269；src/word/web-safety.ts:5,59–143。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重点：管理后台是只读查询，不是网页配置或完整审计、计费后台。入口为/admin/usage和/admin/api。前者用于用户使用，后者区分后端业务请求与上游真实请求，分批请求与修复请求单独计入。提交文本量不等于供应商计费字符数，翻译请求也不等于文档数量。后台按管理员白名单及租户范围授权。统计保留12个月日汇总，保存身份资料，但不保存正文、译文、令牌。数据库故障不阻断翻译，报表可能有缺口；当前方案按单实例设计。</a:t>
            </a:r>
          </a:p>
          <a:p>
            <a:r>
              <a:t>依据：src/admin/admin.ts:72–147；server/admin.js:4–57；server/analytics-store.js:3–7,32–39,71–105；server/analytics.js:6–54；docs/usage-analytics-v2-deployment.md:28–71。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架构图为逻辑调用示意，并非当前线上部署拓扑。Word与Outlook加载项以及独立管理后台都访问同源Express服务。翻译链：Office读取内容→/api/translate或/api/translate/word→Azure Translator→客户端显示或写回；检测链为/api/detect。邮件HTML按可见文本节点翻译；Word在本地处理OOXML，仅发送带格式标记的段落，并非上传整个DOCX。认证链：Office SSO→jose验证JWT→MSAL Node执行OBO→Graph /me，缺少同意时走授权码+PKCE；管理员网页使用MSAL Browser。PostgreSQL仅支持统计存储与查询，不存正文、译文或令牌。前端不是React/Vue应用，也未接入Azure OpenAI或多模型。</a:t>
            </a:r>
          </a:p>
          <a:p>
            <a:r>
              <a:t>依据：package.json:22–53；server/auth.js:4–80；server/app.js:36–94；server/translator.js:4–55,65–143；src/word/ooxml.ts:18–25。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技术栈以当前仓库实际依赖和实现为准。前端使用原生HTML/CSS/DOM与TypeScript、Office.js、Webpack 5，并使用Bootstrap Icons；后端Node.js最低20.16，Express。认证依赖MSAL Browser、MSAL Node、jose；默认中国云配置。偏好与备份分层：Outlook roamingSettings，Word目标语言保存在文档settings，Word网页全文备份IndexedDB，桌面备份随副本文档保存；统计使用PostgreSQL。HTTPS可经反向代理终止或后端证书直供。不要由依赖存在推断线上服务已开通，也不要承诺高可用或任意客户端支持。Outlook原位显示依赖Preview API，世纪互联OWA已记录问题；Word桌面全文需要WordApiHiddenDocument 1.4与WordApi 1.4。</a:t>
            </a:r>
          </a:p>
          <a:p>
            <a:r>
              <a:t>依据：package.json:22–53；server/start.js:31–43；server/auth.js:4–80；src/word/settings.ts:9–24；src/word/backup-store.ts:1–58；docs/usage-analytics-v2-deployment.md:28–71；README.md:128–138。</a:t>
            </a:r>
          </a:p>
          <a:p>
            <a:r>
              <a:t>制作说明：依据本地仓库实现整理，未将代码阅读视为线上验收，未读取密钥或生产环境私密配置。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82296" cy="182880"/>
          </a:xfrm>
          <a:prstGeom prst="rect">
            <a:avLst/>
          </a:prstGeom>
          <a:solidFill>
            <a:srgbClr val="F3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PRODUCT OVERVIEW  /  产品介绍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73368"/>
            <a:ext cx="11045952" cy="0"/>
          </a:xfrm>
          <a:prstGeom prst="line">
            <a:avLst/>
          </a:prstGeom>
          <a:ln w="10160">
            <a:solidFill>
              <a:srgbClr val="193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  /  翻译插件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501384"/>
            <a:ext cx="94183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01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537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 翻译插件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6629400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邮件与文档，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在 Office 内翻译。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4160520"/>
            <a:ext cx="530352" cy="50292"/>
          </a:xfrm>
          <a:prstGeom prst="rect">
            <a:avLst/>
          </a:prstGeom>
          <a:solidFill>
            <a:srgbClr val="F3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4526280"/>
            <a:ext cx="6629400" cy="300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5CBDD"/>
                </a:solidFill>
                <a:latin typeface="Microsoft YaHei"/>
              </a:defRPr>
            </a:pPr>
            <a:r>
              <a:rPr dirty="0" err="1">
                <a:latin typeface="Microsoft YaHei"/>
                <a:ea typeface="Microsoft YaHei"/>
              </a:rPr>
              <a:t>面向企业办公场景的翻译加载项</a:t>
            </a:r>
            <a:endParaRPr dirty="0"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" y="5084064"/>
            <a:ext cx="6629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让跨语言沟通融入熟悉的 Office 工作流。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715000"/>
            <a:ext cx="1124712" cy="329184"/>
          </a:xfrm>
          <a:prstGeom prst="roundRect">
            <a:avLst>
              <a:gd name="adj" fmla="val 13000"/>
            </a:avLst>
          </a:prstGeom>
          <a:solidFill>
            <a:srgbClr val="19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5765292"/>
            <a:ext cx="101498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Outlook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56231" y="5715000"/>
            <a:ext cx="941832" cy="329184"/>
          </a:xfrm>
          <a:prstGeom prst="roundRect">
            <a:avLst>
              <a:gd name="adj" fmla="val 13000"/>
            </a:avLst>
          </a:prstGeom>
          <a:solidFill>
            <a:srgbClr val="19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11095" y="5765292"/>
            <a:ext cx="8321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16936" y="5715000"/>
            <a:ext cx="1316736" cy="329184"/>
          </a:xfrm>
          <a:prstGeom prst="roundRect">
            <a:avLst>
              <a:gd name="adj" fmla="val 13000"/>
            </a:avLst>
          </a:prstGeom>
          <a:solidFill>
            <a:srgbClr val="19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5765292"/>
            <a:ext cx="120700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企业管理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71816" y="1325880"/>
            <a:ext cx="3904487" cy="4535424"/>
          </a:xfrm>
          <a:prstGeom prst="roundRect">
            <a:avLst>
              <a:gd name="adj" fmla="val 13000"/>
            </a:avLst>
          </a:prstGeom>
          <a:solidFill>
            <a:srgbClr val="19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91856" y="1627632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ONE WORKSPACE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249424"/>
            <a:ext cx="3264408" cy="9509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0456" y="2468880"/>
            <a:ext cx="5852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441448"/>
            <a:ext cx="21396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邮件 / 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283464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获取原文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28632" y="3355848"/>
            <a:ext cx="0" cy="420624"/>
          </a:xfrm>
          <a:prstGeom prst="line">
            <a:avLst/>
          </a:prstGeom>
          <a:ln w="25400">
            <a:solidFill>
              <a:srgbClr val="F3BD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91856" y="3959352"/>
            <a:ext cx="3264408" cy="950976"/>
          </a:xfrm>
          <a:prstGeom prst="roundRect">
            <a:avLst>
              <a:gd name="adj" fmla="val 13000"/>
            </a:avLst>
          </a:prstGeom>
          <a:solidFill>
            <a:srgbClr val="E3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0456" y="4178808"/>
            <a:ext cx="5852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87E8B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4151376"/>
            <a:ext cx="21396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译文 / 回写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4544568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继续当前工作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5276088"/>
            <a:ext cx="3182112" cy="183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5CBDD"/>
                </a:solidFill>
                <a:latin typeface="Microsoft YaHei"/>
              </a:defRPr>
            </a:pPr>
            <a:r>
              <a:rPr lang="en-US" dirty="0">
                <a:latin typeface="Microsoft YaHei"/>
                <a:ea typeface="Microsoft YaHei"/>
              </a:rPr>
              <a:t>ENG</a:t>
            </a:r>
            <a:r>
              <a:rPr dirty="0">
                <a:latin typeface="Microsoft YaHei"/>
                <a:ea typeface="Microsoft YaHei"/>
              </a:rPr>
              <a:t>  →  </a:t>
            </a:r>
            <a:r>
              <a:rPr lang="en-US" dirty="0">
                <a:latin typeface="Microsoft YaHei"/>
                <a:ea typeface="Microsoft YaHei"/>
              </a:rPr>
              <a:t>API</a:t>
            </a:r>
            <a:r>
              <a:rPr dirty="0">
                <a:latin typeface="Microsoft YaHei"/>
                <a:ea typeface="Microsoft YaHei"/>
              </a:rPr>
              <a:t>  →  </a:t>
            </a:r>
            <a:r>
              <a:rPr lang="en-US" dirty="0">
                <a:latin typeface="Microsoft YaHei"/>
                <a:ea typeface="Microsoft YaHei"/>
              </a:rPr>
              <a:t>CHN</a:t>
            </a:r>
            <a:endParaRPr dirty="0"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82296" cy="1828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CORE FEATURE  /  邮件翻译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06424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Outlook：在邮件原位置阅读译文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73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共享 Azure AI Translator 服务，提供 31 个目标语言／文字变体选项，支持自动识别源语言。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73368"/>
            <a:ext cx="11045952" cy="0"/>
          </a:xfrm>
          <a:prstGeom prst="line">
            <a:avLst/>
          </a:prstGeom>
          <a:ln w="10160">
            <a:solidFill>
              <a:srgbClr val="D9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  /  翻译插件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4183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02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04288"/>
            <a:ext cx="6702552" cy="29992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578608"/>
            <a:ext cx="6053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从打开邮件，到继续阅读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27832"/>
            <a:ext cx="365760" cy="365760"/>
          </a:xfrm>
          <a:prstGeom prst="roundRect">
            <a:avLst>
              <a:gd name="adj" fmla="val 13000"/>
            </a:avLst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30555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3214115"/>
            <a:ext cx="5413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打开邮件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538727"/>
            <a:ext cx="538581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在 Office 中点击“翻译邮件”，按需完成账户验证。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58768"/>
            <a:ext cx="365760" cy="365760"/>
          </a:xfrm>
          <a:prstGeom prst="roundRect">
            <a:avLst>
              <a:gd name="adj" fmla="val 13000"/>
            </a:avLst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9364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845052"/>
            <a:ext cx="5413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翻译邮件正文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69663"/>
            <a:ext cx="538581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保留 HTML 结构，翻译可见文本内容。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89704"/>
            <a:ext cx="365760" cy="365760"/>
          </a:xfrm>
          <a:prstGeom prst="roundRect">
            <a:avLst>
              <a:gd name="adj" fmla="val 13000"/>
            </a:avLst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567428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475988"/>
            <a:ext cx="5413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直接阅读译文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800600"/>
            <a:ext cx="538581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在原位置显示结果；可切回原文或重新打开邮件。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34656" y="2304288"/>
            <a:ext cx="4050791" cy="2999232"/>
          </a:xfrm>
          <a:prstGeom prst="roundRect">
            <a:avLst>
              <a:gd name="adj" fmla="val 13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2587752"/>
            <a:ext cx="3346704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按习惯配置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209544"/>
            <a:ext cx="335584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目标语言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520439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默认简体中文，可按需切换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849624"/>
            <a:ext cx="335584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自动策略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60520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始终翻译 / 翻译前询问 / 关闭自动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489704"/>
            <a:ext cx="335584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排除语言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熟悉的语言不自动翻译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522976"/>
            <a:ext cx="10991088" cy="521207"/>
          </a:xfrm>
          <a:prstGeom prst="roundRect">
            <a:avLst>
              <a:gd name="adj" fmla="val 13000"/>
            </a:avLst>
          </a:prstGeom>
          <a:solidFill>
            <a:srgbClr val="E3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" y="5669280"/>
            <a:ext cx="105156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E8B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只改变邮件显示，不修改服务器原始邮件。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82296" cy="1828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CORE FEATURE  /  文档翻译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06424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Word：先预览，再选择写回方式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73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选区／段落预览与全文翻译分开处理，在效率与文档安全之间保留用户控制。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73368"/>
            <a:ext cx="11045952" cy="0"/>
          </a:xfrm>
          <a:prstGeom prst="line">
            <a:avLst/>
          </a:prstGeom>
          <a:ln w="10160">
            <a:solidFill>
              <a:srgbClr val="D9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  /  翻译插件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4183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03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04288"/>
            <a:ext cx="3511296" cy="31638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532888"/>
            <a:ext cx="50292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99232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选区 / 段落预览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493008"/>
            <a:ext cx="30083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先看结果，再决定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" y="4178808"/>
            <a:ext cx="50292" cy="50292"/>
          </a:xfrm>
          <a:prstGeom prst="ellipse">
            <a:avLst/>
          </a:prstGeom>
          <a:solidFill>
            <a:srgbClr val="2C6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" y="4096512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编辑原文，切换目标语言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" y="4572000"/>
            <a:ext cx="50292" cy="50292"/>
          </a:xfrm>
          <a:prstGeom prst="ellipse">
            <a:avLst/>
          </a:prstGeom>
          <a:solidFill>
            <a:srgbClr val="2C6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" y="4489704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重新翻译，或复制译文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4965192"/>
            <a:ext cx="50292" cy="50292"/>
          </a:xfrm>
          <a:prstGeom prst="ellipse">
            <a:avLst/>
          </a:prstGeom>
          <a:solidFill>
            <a:srgbClr val="2C6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4882896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检查原文变化后手动替换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2304288"/>
            <a:ext cx="3511296" cy="31638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81144" y="2532888"/>
            <a:ext cx="50292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87E8B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999232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桌面全文翻译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493008"/>
            <a:ext cx="30083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E8B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在新副本中完成</a:t>
            </a:r>
          </a:p>
        </p:txBody>
      </p:sp>
      <p:sp>
        <p:nvSpPr>
          <p:cNvPr id="23" name="Oval 22"/>
          <p:cNvSpPr/>
          <p:nvPr/>
        </p:nvSpPr>
        <p:spPr>
          <a:xfrm>
            <a:off x="4590288" y="4178808"/>
            <a:ext cx="50292" cy="50292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4096512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创建完整副本，保留原文</a:t>
            </a:r>
          </a:p>
        </p:txBody>
      </p:sp>
      <p:sp>
        <p:nvSpPr>
          <p:cNvPr id="25" name="Oval 24"/>
          <p:cNvSpPr/>
          <p:nvPr/>
        </p:nvSpPr>
        <p:spPr>
          <a:xfrm>
            <a:off x="4590288" y="4572000"/>
            <a:ext cx="50292" cy="50292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4489704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在副本中翻译正文</a:t>
            </a:r>
          </a:p>
        </p:txBody>
      </p:sp>
      <p:sp>
        <p:nvSpPr>
          <p:cNvPr id="27" name="Oval 26"/>
          <p:cNvSpPr/>
          <p:nvPr/>
        </p:nvSpPr>
        <p:spPr>
          <a:xfrm>
            <a:off x="4590288" y="4965192"/>
            <a:ext cx="50292" cy="50292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4882896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打开结果，由用户保存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4152" y="2304288"/>
            <a:ext cx="3511296" cy="31638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532888"/>
            <a:ext cx="50292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99232"/>
            <a:ext cx="30083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网页全文翻译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93008"/>
            <a:ext cx="300837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结构检查后写回</a:t>
            </a:r>
          </a:p>
        </p:txBody>
      </p:sp>
      <p:sp>
        <p:nvSpPr>
          <p:cNvPr id="33" name="Oval 32"/>
          <p:cNvSpPr/>
          <p:nvPr/>
        </p:nvSpPr>
        <p:spPr>
          <a:xfrm>
            <a:off x="8330183" y="4178808"/>
            <a:ext cx="50292" cy="50292"/>
          </a:xfrm>
          <a:prstGeom prst="ellipse">
            <a:avLst/>
          </a:prstGeom>
          <a:solidFill>
            <a:srgbClr val="2C6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94776" y="4096512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结构检查后建立本地备份</a:t>
            </a:r>
          </a:p>
        </p:txBody>
      </p:sp>
      <p:sp>
        <p:nvSpPr>
          <p:cNvPr id="35" name="Oval 34"/>
          <p:cNvSpPr/>
          <p:nvPr/>
        </p:nvSpPr>
        <p:spPr>
          <a:xfrm>
            <a:off x="8330183" y="4572000"/>
            <a:ext cx="50292" cy="50292"/>
          </a:xfrm>
          <a:prstGeom prst="ellipse">
            <a:avLst/>
          </a:prstGeom>
          <a:solidFill>
            <a:srgbClr val="2C6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94776" y="4489704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在当前文档中翻译正文</a:t>
            </a:r>
          </a:p>
        </p:txBody>
      </p:sp>
      <p:sp>
        <p:nvSpPr>
          <p:cNvPr id="37" name="Oval 36"/>
          <p:cNvSpPr/>
          <p:nvPr/>
        </p:nvSpPr>
        <p:spPr>
          <a:xfrm>
            <a:off x="8330183" y="4965192"/>
            <a:ext cx="50292" cy="50292"/>
          </a:xfrm>
          <a:prstGeom prst="ellipse">
            <a:avLst/>
          </a:prstGeom>
          <a:solidFill>
            <a:srgbClr val="2C6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94776" y="4882896"/>
            <a:ext cx="28803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支持基本结构，拦截复杂结构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678424"/>
            <a:ext cx="10991088" cy="365760"/>
          </a:xfrm>
          <a:prstGeom prst="roundRect">
            <a:avLst>
              <a:gd name="adj" fmla="val 13000"/>
            </a:avLst>
          </a:prstGeom>
          <a:solidFill>
            <a:srgbClr val="E3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751576"/>
            <a:ext cx="10533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Microsoft YaHei"/>
              </a:defRPr>
            </a:pPr>
            <a:r>
              <a:rPr dirty="0" err="1">
                <a:latin typeface="Microsoft YaHei"/>
                <a:ea typeface="Microsoft YaHei"/>
              </a:rPr>
              <a:t>全文翻译支持有条件恢复原文；预览替换不创建恢复备份</a:t>
            </a:r>
            <a:r>
              <a:rPr dirty="0"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82296" cy="1828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ENTERPRISE VISIBILITY  /  使用分析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06424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独立管理后台，让使用情况可见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73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提供“用户使用”与“API 用量”两个只读页面，支持按授权租户范围查询。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73368"/>
            <a:ext cx="11045952" cy="0"/>
          </a:xfrm>
          <a:prstGeom prst="line">
            <a:avLst/>
          </a:prstGeom>
          <a:ln w="10160">
            <a:solidFill>
              <a:srgbClr val="D9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  /  翻译插件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4183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04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5385816" cy="14538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551176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87E8B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2523744"/>
            <a:ext cx="417880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用户使用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035808"/>
            <a:ext cx="412394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使用人数、翻译请求、日趋势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首次 / 最近使用、使用天数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86000"/>
            <a:ext cx="5385816" cy="14538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551176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2523744"/>
            <a:ext cx="417880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API 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035808"/>
            <a:ext cx="412394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区分业务请求与上游实际调用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查看成功、失败与提交文本量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68496"/>
            <a:ext cx="5385816" cy="14538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233672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4206240"/>
            <a:ext cx="417880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多维筛选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718304"/>
            <a:ext cx="412394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186"/>
                </a:solidFill>
                <a:latin typeface="Microsoft YaHei"/>
              </a:defRPr>
            </a:pPr>
            <a:r>
              <a:rPr dirty="0" err="1">
                <a:latin typeface="Microsoft YaHei"/>
                <a:ea typeface="Microsoft YaHei"/>
              </a:rPr>
              <a:t>日期、租户、Word</a:t>
            </a:r>
            <a:r>
              <a:rPr dirty="0">
                <a:latin typeface="Microsoft YaHei"/>
                <a:ea typeface="Microsoft YaHei"/>
              </a:rPr>
              <a:t> / </a:t>
            </a:r>
            <a:r>
              <a:rPr dirty="0" err="1">
                <a:latin typeface="Microsoft YaHei"/>
                <a:ea typeface="Microsoft YaHei"/>
              </a:rPr>
              <a:t>Outlook、网页</a:t>
            </a:r>
            <a:r>
              <a:rPr dirty="0">
                <a:latin typeface="Microsoft YaHei"/>
                <a:ea typeface="Microsoft YaHei"/>
              </a:rPr>
              <a:t> / </a:t>
            </a:r>
            <a:r>
              <a:rPr dirty="0" err="1">
                <a:latin typeface="Microsoft YaHei"/>
                <a:ea typeface="Microsoft YaHei"/>
              </a:rPr>
              <a:t>桌面</a:t>
            </a:r>
            <a:endParaRPr dirty="0">
              <a:latin typeface="Microsoft YaHei"/>
              <a:ea typeface="Microsoft YaHei"/>
            </a:endParaR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186"/>
                </a:solidFill>
                <a:latin typeface="Microsoft YaHei"/>
              </a:defRPr>
            </a:pPr>
            <a:r>
              <a:rPr dirty="0" err="1">
                <a:latin typeface="Microsoft YaHei"/>
                <a:ea typeface="Microsoft YaHei"/>
              </a:rPr>
              <a:t>支持姓名</a:t>
            </a:r>
            <a:r>
              <a:rPr dirty="0">
                <a:latin typeface="Microsoft YaHei"/>
                <a:ea typeface="Microsoft YaHei"/>
              </a:rPr>
              <a:t> / </a:t>
            </a:r>
            <a:r>
              <a:rPr dirty="0" err="1">
                <a:latin typeface="Microsoft YaHei"/>
                <a:ea typeface="Microsoft YaHei"/>
              </a:rPr>
              <a:t>邮箱搜索及分页</a:t>
            </a:r>
            <a:endParaRPr dirty="0">
              <a:latin typeface="Microsoft YaHei"/>
              <a:ea typeface="Microsoft YaHe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99632" y="3968496"/>
            <a:ext cx="5385816" cy="14538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4233672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87E8B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4206240"/>
            <a:ext cx="4178808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范围与留存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718304"/>
            <a:ext cx="412394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管理员白名单控制可查询租户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PostgreSQL 日汇总，保留 12 个月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779008"/>
            <a:ext cx="10945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统计不保存正文、译文或令牌；会保存用户身份信息，用于使用分析。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82296" cy="1828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SYSTEM ARCHITECTURE  / 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06424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两端加载项，共用一套后端服务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73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默认面向世纪互联 Microsoft 365 / Entra 中国云；下图为逻辑架构与主要调用方向。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73368"/>
            <a:ext cx="11045952" cy="0"/>
          </a:xfrm>
          <a:prstGeom prst="line">
            <a:avLst/>
          </a:prstGeom>
          <a:ln w="10160">
            <a:solidFill>
              <a:srgbClr val="D9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  /  翻译插件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4183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05 / 06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2880360"/>
            <a:ext cx="0" cy="594360"/>
          </a:xfrm>
          <a:prstGeom prst="line">
            <a:avLst/>
          </a:prstGeom>
          <a:ln w="15875">
            <a:solidFill>
              <a:srgbClr val="6171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9904" y="2880360"/>
            <a:ext cx="0" cy="594360"/>
          </a:xfrm>
          <a:prstGeom prst="line">
            <a:avLst/>
          </a:prstGeom>
          <a:ln w="15875">
            <a:solidFill>
              <a:srgbClr val="6171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29800" y="2880360"/>
            <a:ext cx="0" cy="594360"/>
          </a:xfrm>
          <a:prstGeom prst="line">
            <a:avLst/>
          </a:prstGeom>
          <a:ln w="15875">
            <a:solidFill>
              <a:srgbClr val="6171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50008" y="4251960"/>
            <a:ext cx="0" cy="594360"/>
          </a:xfrm>
          <a:prstGeom prst="line">
            <a:avLst/>
          </a:prstGeom>
          <a:ln w="15875">
            <a:solidFill>
              <a:srgbClr val="6171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9904" y="4251960"/>
            <a:ext cx="0" cy="594360"/>
          </a:xfrm>
          <a:prstGeom prst="line">
            <a:avLst/>
          </a:prstGeom>
          <a:ln w="15875">
            <a:solidFill>
              <a:srgbClr val="6171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29800" y="4251960"/>
            <a:ext cx="0" cy="594360"/>
          </a:xfrm>
          <a:prstGeom prst="line">
            <a:avLst/>
          </a:prstGeom>
          <a:ln w="15875">
            <a:solidFill>
              <a:srgbClr val="6171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2231136"/>
            <a:ext cx="3511296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386584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Outlook 邮件翻译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79776"/>
            <a:ext cx="32735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Office.js · 邮件显示与偏好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2231136"/>
            <a:ext cx="3511296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71416" y="2386584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Word 文档翻译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779776"/>
            <a:ext cx="32735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Office.js · 预览 / OOXML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2231136"/>
            <a:ext cx="3511296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2386584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浏览器管理后台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779776"/>
            <a:ext cx="32735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MSAL Browser · 只读分析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9704" y="3145536"/>
            <a:ext cx="3209544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3145536"/>
            <a:ext cx="313639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HTTPS · 同源 API · 身份校验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02152"/>
            <a:ext cx="10991088" cy="768096"/>
          </a:xfrm>
          <a:prstGeom prst="roundRect">
            <a:avLst>
              <a:gd name="adj" fmla="val 13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Node.js + Express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794760"/>
            <a:ext cx="6382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5CBD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翻译 / 语言检测   ·   内容处理   ·   鉴权   ·   统计聚合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828032"/>
            <a:ext cx="3511296" cy="1106424"/>
          </a:xfrm>
          <a:prstGeom prst="roundRect">
            <a:avLst>
              <a:gd name="adj" fmla="val 13000"/>
            </a:avLst>
          </a:prstGeom>
          <a:solidFill>
            <a:srgbClr val="E3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" y="4992624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7E8B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Azure AI Translator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46811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源语言检测 / 文本翻译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751576"/>
            <a:ext cx="3163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分批请求与结果校验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4256" y="4828032"/>
            <a:ext cx="3511296" cy="1106424"/>
          </a:xfrm>
          <a:prstGeom prst="roundRect">
            <a:avLst>
              <a:gd name="adj" fmla="val 13000"/>
            </a:avLst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07992" y="4992624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C65C7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Entra ID + 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546811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JWT 校验 / OBO 授权链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5751576"/>
            <a:ext cx="3163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获取 Microsoft 365 用户身份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4152" y="4828032"/>
            <a:ext cx="3511296" cy="1106424"/>
          </a:xfrm>
          <a:prstGeom prst="roundRect">
            <a:avLst>
              <a:gd name="adj" fmla="val 13000"/>
            </a:avLst>
          </a:prstGeom>
          <a:solidFill>
            <a:srgbClr val="E3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47888" y="4992624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7E8B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PostgreSQL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546811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用户使用 / API 调用日汇总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5751576"/>
            <a:ext cx="3163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为管理后台提供查询数据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82296" cy="1828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TECHNOLOGY STACK  /  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06424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以 Office 原生集成为核心的轻量技术栈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73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前端原生 TypeScript，后端集中承载认证、翻译代理与使用统计。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73368"/>
            <a:ext cx="11045952" cy="0"/>
          </a:xfrm>
          <a:prstGeom prst="line">
            <a:avLst/>
          </a:prstGeom>
          <a:ln w="10160">
            <a:solidFill>
              <a:srgbClr val="D9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OFFICE  /  翻译插件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4183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06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21992"/>
            <a:ext cx="10991088" cy="429768"/>
          </a:xfrm>
          <a:prstGeom prst="roundRect">
            <a:avLst>
              <a:gd name="adj" fmla="val 13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4086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层级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2340864"/>
            <a:ext cx="83027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当前采用的技术与作用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79192"/>
            <a:ext cx="10991088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81635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界面与构建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816352"/>
            <a:ext cx="84216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TypeScript · HTML / CSS · Office.js · Webpack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82112"/>
            <a:ext cx="10991088" cy="48463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31927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API 与翻译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319272"/>
            <a:ext cx="84216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Node.js ≥ 20.16 · Express · Azure AI Translator REST API v3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85032"/>
            <a:ext cx="10991088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82219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身份与授权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822192"/>
            <a:ext cx="84216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Microsoft Entra ID · Office SSO · MSAL · jose · Microsoft 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187952"/>
            <a:ext cx="10991088" cy="484632"/>
          </a:xfrm>
          <a:prstGeom prst="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432511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数据与备份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4325112"/>
            <a:ext cx="84216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 dirty="0" err="1">
                <a:latin typeface="Microsoft YaHei"/>
                <a:ea typeface="Microsoft YaHei"/>
              </a:rPr>
              <a:t>PostgreSQL（统计</a:t>
            </a:r>
            <a:r>
              <a:rPr dirty="0">
                <a:latin typeface="Microsoft YaHei"/>
                <a:ea typeface="Microsoft YaHei"/>
              </a:rPr>
              <a:t>） · Office settings · </a:t>
            </a:r>
            <a:r>
              <a:rPr dirty="0" err="1">
                <a:latin typeface="Microsoft YaHei"/>
                <a:ea typeface="Microsoft YaHei"/>
              </a:rPr>
              <a:t>IndexedDB</a:t>
            </a:r>
            <a:r>
              <a:rPr dirty="0">
                <a:latin typeface="Microsoft YaHei"/>
                <a:ea typeface="Microsoft YaHei"/>
              </a:rPr>
              <a:t> / </a:t>
            </a:r>
            <a:r>
              <a:rPr dirty="0" err="1">
                <a:latin typeface="Microsoft YaHei"/>
                <a:ea typeface="Microsoft YaHei"/>
              </a:rPr>
              <a:t>文档内备份</a:t>
            </a:r>
            <a:endParaRPr dirty="0">
              <a:latin typeface="Microsoft YaHei"/>
              <a:ea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4690872"/>
            <a:ext cx="10991088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82803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部署与运行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4828032"/>
            <a:ext cx="84216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HTTPS · dist 静态资源 + Node 后端 · 当前统计按单实例设计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422392"/>
            <a:ext cx="50292" cy="658368"/>
          </a:xfrm>
          <a:prstGeom prst="rect">
            <a:avLst/>
          </a:prstGeom>
          <a:solidFill>
            <a:srgbClr val="F3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440680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2C44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使用边界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6543" y="5431536"/>
            <a:ext cx="9345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客户端能力有差异；世纪互联 OWA 原位显示存在已知限制，自动翻译需面板运行。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66543" y="5779008"/>
            <a:ext cx="9345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617186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不涵盖邮件附件、图片文字识别或 Word 页眉页脚；部署需配置权限、翻译资源与数据库。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1040</Words>
  <Application>Microsoft Office PowerPoint</Application>
  <PresentationFormat>宽屏</PresentationFormat>
  <Paragraphs>143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翻译插件 · 产品介绍</dc:title>
  <dc:subject>产品定位、主要功能、管理能力与技术架构</dc:subject>
  <dc:creator>产品介绍</dc:creator>
  <cp:keywords>Office, Word, Outlook, 翻译, 产品介绍</cp:keywords>
  <dc:description>generated using python-pptx</dc:description>
  <cp:lastModifiedBy>legionE1Business</cp:lastModifiedBy>
  <cp:revision>6</cp:revision>
  <dcterms:created xsi:type="dcterms:W3CDTF">2013-01-27T09:14:16Z</dcterms:created>
  <dcterms:modified xsi:type="dcterms:W3CDTF">2026-09-12T05:25:22Z</dcterms:modified>
  <cp:category/>
  <dc:language>zh-CN</dc:language>
</cp:coreProperties>
</file>